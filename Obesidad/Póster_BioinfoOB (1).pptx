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7" r:id="rId5"/>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238"/>
    <p:restoredTop sz="94674"/>
  </p:normalViewPr>
  <p:slideViewPr>
    <p:cSldViewPr snapToGrid="0">
      <p:cViewPr varScale="1">
        <p:scale>
          <a:sx n="38" d="100"/>
          <a:sy n="38" d="100"/>
        </p:scale>
        <p:origin x="4096"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21/12/25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21/12/25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21/12/25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21/12/25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21/12/25</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21/12/25</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21/12/25</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21/12/25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21/12/25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21/12/25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21/12/25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21/12/25</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01741A3D-E56A-6A90-DD91-76A3ADF8E20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5FCC48C4-680E-DC53-FF73-95EB091356FB}"/>
              </a:ext>
            </a:extLst>
          </p:cNvPr>
          <p:cNvGrpSpPr/>
          <p:nvPr/>
        </p:nvGrpSpPr>
        <p:grpSpPr>
          <a:xfrm>
            <a:off x="225180" y="3484254"/>
            <a:ext cx="14668990" cy="1562458"/>
            <a:chOff x="225180" y="3930299"/>
            <a:chExt cx="14668990" cy="1562458"/>
          </a:xfrm>
        </p:grpSpPr>
        <p:sp>
          <p:nvSpPr>
            <p:cNvPr id="8" name="Rectángulo redondeado 7">
              <a:extLst>
                <a:ext uri="{FF2B5EF4-FFF2-40B4-BE49-F238E27FC236}">
                  <a16:creationId xmlns:a16="http://schemas.microsoft.com/office/drawing/2014/main" id="{FEB7D3ED-CF02-C938-2FA1-39EE97AC2AA9}"/>
                </a:ext>
              </a:extLst>
            </p:cNvPr>
            <p:cNvSpPr/>
            <p:nvPr/>
          </p:nvSpPr>
          <p:spPr>
            <a:xfrm>
              <a:off x="225180" y="4246823"/>
              <a:ext cx="14668990" cy="1245934"/>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PA" i="1" dirty="0">
                  <a:solidFill>
                    <a:schemeClr val="tx1"/>
                  </a:solidFill>
                  <a:ea typeface="Times New Roman" panose="02020603050405020304" pitchFamily="18" charset="0"/>
                  <a:cs typeface="Times New Roman" panose="02020603050405020304" pitchFamily="18" charset="0"/>
                </a:rPr>
                <a:t>El análisis evalúa las diferencias en los perfiles de expresión génica entre dos variantes de grupos con obesidad (Grupo 1 vs. Grupo 2). El objetivo es identificar genes diferencialmente expresados (DEGs) mediante un flujo de trabajo bioinformático aplicado a secuencias simuladas, permitiendo caracterizar la variabilidad molecular dentro de una misma condición patológica.</a:t>
              </a:r>
              <a:endParaRPr lang="es-PA" i="1" dirty="0">
                <a:solidFill>
                  <a:schemeClr val="tx1"/>
                </a:solidFill>
                <a:ea typeface="Calibri" panose="020F0502020204030204" pitchFamily="34" charset="0"/>
                <a:cs typeface="Times New Roman" panose="02020603050405020304" pitchFamily="18" charset="0"/>
              </a:endParaRPr>
            </a:p>
            <a:p>
              <a:pPr algn="just">
                <a:lnSpc>
                  <a:spcPct val="80000"/>
                </a:lnSpc>
              </a:pPr>
              <a:endParaRPr lang="es-ES_tradnl" sz="2400" i="1" dirty="0">
                <a:solidFill>
                  <a:schemeClr val="tx1"/>
                </a:solidFill>
              </a:endParaRPr>
            </a:p>
            <a:p>
              <a:pPr algn="just">
                <a:lnSpc>
                  <a:spcPct val="80000"/>
                </a:lnSpc>
              </a:pPr>
              <a:r>
                <a:rPr lang="es-ES_tradnl" i="1" dirty="0">
                  <a:solidFill>
                    <a:schemeClr val="tx1"/>
                  </a:solidFill>
                </a:rPr>
                <a:t> </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3945C9BD-E878-C904-BB12-F0BA2D1763CA}"/>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7B23F5A3-8FA4-BB38-32D0-0ECAD0F925F2}"/>
              </a:ext>
            </a:extLst>
          </p:cNvPr>
          <p:cNvGrpSpPr/>
          <p:nvPr/>
        </p:nvGrpSpPr>
        <p:grpSpPr>
          <a:xfrm>
            <a:off x="207596" y="5235817"/>
            <a:ext cx="14668990" cy="1992925"/>
            <a:chOff x="207596" y="6110487"/>
            <a:chExt cx="14668990" cy="1992925"/>
          </a:xfrm>
        </p:grpSpPr>
        <p:sp>
          <p:nvSpPr>
            <p:cNvPr id="14" name="Rectángulo redondeado 13">
              <a:extLst>
                <a:ext uri="{FF2B5EF4-FFF2-40B4-BE49-F238E27FC236}">
                  <a16:creationId xmlns:a16="http://schemas.microsoft.com/office/drawing/2014/main" id="{CB14F1FF-25D2-FA75-CD9F-A24420348853}"/>
                </a:ext>
              </a:extLst>
            </p:cNvPr>
            <p:cNvSpPr/>
            <p:nvPr/>
          </p:nvSpPr>
          <p:spPr>
            <a:xfrm>
              <a:off x="207596" y="6427010"/>
              <a:ext cx="14668990" cy="1676402"/>
            </a:xfrm>
            <a:prstGeom prst="roundRect">
              <a:avLst>
                <a:gd name="adj" fmla="val 970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lvl="0" algn="just">
                <a:lnSpc>
                  <a:spcPct val="107000"/>
                </a:lnSpc>
                <a:spcAft>
                  <a:spcPts val="800"/>
                </a:spcAft>
                <a:buSzPts val="1000"/>
                <a:tabLst>
                  <a:tab pos="457200" algn="l"/>
                </a:tabLst>
              </a:pPr>
              <a:r>
                <a:rPr lang="es-ES_tradnl" sz="1800" i="1"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Un total de 10 s</a:t>
              </a:r>
              <a:r>
                <a:rPr lang="es-PA" sz="1800" i="1"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ecuencias de RNA-seq simuladas (no procedentes de tejido biológico real) de cinco individuos incluyendo miembros de la familia simpson fueron evaluadas. El control de </a:t>
              </a:r>
              <a:r>
                <a:rPr lang="es-PA" i="1" dirty="0">
                  <a:solidFill>
                    <a:schemeClr val="tx1"/>
                  </a:solidFill>
                  <a:latin typeface="Aptos" panose="020B0004020202020204" pitchFamily="34" charset="0"/>
                  <a:ea typeface="Times New Roman" panose="02020603050405020304" pitchFamily="18" charset="0"/>
                  <a:cs typeface="Times New Roman" panose="02020603050405020304" pitchFamily="18" charset="0"/>
                </a:rPr>
                <a:t>c</a:t>
              </a:r>
              <a:r>
                <a:rPr lang="es-PA" sz="1800" i="1"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alidad de las secuencias consistió en el análisis de la calidad de las lecturas mediante FastQC (lecturas de 35-151 bp). Finalmente, </a:t>
              </a:r>
              <a:r>
                <a:rPr lang="es-PA" i="1" dirty="0">
                  <a:solidFill>
                    <a:schemeClr val="tx1"/>
                  </a:solidFill>
                  <a:latin typeface="Aptos" panose="020B0004020202020204" pitchFamily="34" charset="0"/>
                  <a:ea typeface="Times New Roman" panose="02020603050405020304" pitchFamily="18" charset="0"/>
                  <a:cs typeface="Times New Roman" panose="02020603050405020304" pitchFamily="18" charset="0"/>
                </a:rPr>
                <a:t>el análisis b</a:t>
              </a:r>
              <a:r>
                <a:rPr lang="es-PA" sz="1800" i="1"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ioinformático permitió el procesamiento de los datos simulados para la cuantificación de la expresión génica y el análisis estadístico comparativo, en R, con la finalidad de identificar DEGs entre los dos grupos de estudio.</a:t>
              </a:r>
              <a:endParaRPr lang="es-PA" sz="1800" i="1" dirty="0">
                <a:solidFill>
                  <a:schemeClr val="tx1"/>
                </a:solidFill>
                <a:effectLst/>
                <a:latin typeface="Aptos" panose="020B0004020202020204" pitchFamily="34" charset="0"/>
                <a:ea typeface="Calibri" panose="020F0502020204030204" pitchFamily="34" charset="0"/>
                <a:cs typeface="Times New Roman" panose="02020603050405020304" pitchFamily="18" charset="0"/>
              </a:endParaRPr>
            </a:p>
            <a:p>
              <a:pPr algn="just">
                <a:lnSpc>
                  <a:spcPct val="80000"/>
                </a:lnSpc>
              </a:pP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F33D0645-E9FA-A931-364E-3210E3E69D6A}"/>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10" name="Grupo 9">
            <a:extLst>
              <a:ext uri="{FF2B5EF4-FFF2-40B4-BE49-F238E27FC236}">
                <a16:creationId xmlns:a16="http://schemas.microsoft.com/office/drawing/2014/main" id="{20BD9571-E0A9-AB44-7B64-0F522BA4288F}"/>
              </a:ext>
            </a:extLst>
          </p:cNvPr>
          <p:cNvGrpSpPr/>
          <p:nvPr/>
        </p:nvGrpSpPr>
        <p:grpSpPr>
          <a:xfrm>
            <a:off x="225181" y="17303689"/>
            <a:ext cx="9095800" cy="3844742"/>
            <a:chOff x="225181" y="17303689"/>
            <a:chExt cx="9095800" cy="3844742"/>
          </a:xfrm>
        </p:grpSpPr>
        <p:sp>
          <p:nvSpPr>
            <p:cNvPr id="22" name="Rectángulo redondeado 21">
              <a:extLst>
                <a:ext uri="{FF2B5EF4-FFF2-40B4-BE49-F238E27FC236}">
                  <a16:creationId xmlns:a16="http://schemas.microsoft.com/office/drawing/2014/main" id="{381B9892-98E6-4609-C6F1-567DBF51A163}"/>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spcAft>
                  <a:spcPts val="800"/>
                </a:spcAft>
                <a:buSzPts val="1000"/>
                <a:tabLst>
                  <a:tab pos="457200" algn="l"/>
                </a:tabLst>
              </a:pPr>
              <a:r>
                <a:rPr lang="es-PA" i="1" dirty="0">
                  <a:solidFill>
                    <a:schemeClr val="tx1"/>
                  </a:solidFill>
                </a:rPr>
                <a:t>Todas las muestras simuladas (R1 y R2) para los 5 individuos (Abraham, Homer, Marge, Patty y Selma) superaron los umbrales de calidad ("PASS"), con un contenido de GC estable entre 48% y 50%. El análisis contrastó con éxito el grupo obeso 1 (Abraham y Homer) frente al grupo obeso 2 (Marge, Patty y Selma) y se pudieron generar mapas de calor (heatmaps) y diagramas de PCA que muestran, de forma similar, la segregación de los perfiles de expresión según la pertenencia a cada grupo obeso simulado. La comparación entre grupos obesos permite observar que, incluso bajo una misma etiqueta fenotípica, existen perfiles moleculares distintos. La separación observada en el PCA sugiere que los parámetros de simulación lograron capturar variabilidad genética relevante. Se identificaron genes claves que diferencian a ambos grupos, lo que podría emular diferentes subtipos metabólicos de la obesidad y esto concuerda con el pedigrí ya que los miembros de ambos grupos tienen troncos ancestrales diferentes. Adicionalmente, tres genes clave (MC4R, SIM1, y FTO) en la regulación génica de la obesidad presentan una expresión significativamente mayor en el grupo obeso dos.</a:t>
              </a:r>
            </a:p>
            <a:p>
              <a:pPr algn="just">
                <a:lnSpc>
                  <a:spcPct val="80000"/>
                </a:lnSpc>
                <a:spcAft>
                  <a:spcPts val="800"/>
                </a:spcAft>
                <a:buSzPts val="1000"/>
                <a:tabLst>
                  <a:tab pos="457200" algn="l"/>
                </a:tabLst>
              </a:pPr>
              <a:endParaRPr lang="es-PA" i="1" dirty="0">
                <a:solidFill>
                  <a:schemeClr val="tx1"/>
                </a:solidFill>
              </a:endParaRPr>
            </a:p>
            <a:p>
              <a:pPr lvl="0" algn="just">
                <a:lnSpc>
                  <a:spcPct val="80000"/>
                </a:lnSpc>
                <a:spcAft>
                  <a:spcPts val="800"/>
                </a:spcAft>
                <a:buSzPts val="1000"/>
                <a:tabLst>
                  <a:tab pos="457200" algn="l"/>
                </a:tabLst>
              </a:pPr>
              <a:endParaRPr lang="es-PA" i="1" dirty="0">
                <a:solidFill>
                  <a:schemeClr val="tx1"/>
                </a:solidFill>
              </a:endParaRPr>
            </a:p>
          </p:txBody>
        </p:sp>
        <p:sp>
          <p:nvSpPr>
            <p:cNvPr id="23" name="Rectángulo redondeado 22">
              <a:extLst>
                <a:ext uri="{FF2B5EF4-FFF2-40B4-BE49-F238E27FC236}">
                  <a16:creationId xmlns:a16="http://schemas.microsoft.com/office/drawing/2014/main" id="{A2D4C693-7BBD-E0C1-588A-41A91139D35B}"/>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11" name="Grupo 10">
            <a:extLst>
              <a:ext uri="{FF2B5EF4-FFF2-40B4-BE49-F238E27FC236}">
                <a16:creationId xmlns:a16="http://schemas.microsoft.com/office/drawing/2014/main" id="{623B4F90-B675-90D5-3A62-801C71241135}"/>
              </a:ext>
            </a:extLst>
          </p:cNvPr>
          <p:cNvGrpSpPr/>
          <p:nvPr/>
        </p:nvGrpSpPr>
        <p:grpSpPr>
          <a:xfrm>
            <a:off x="9527458" y="17303689"/>
            <a:ext cx="5366712" cy="3844742"/>
            <a:chOff x="7784856" y="17303689"/>
            <a:chExt cx="7109314" cy="3844742"/>
          </a:xfrm>
        </p:grpSpPr>
        <p:sp>
          <p:nvSpPr>
            <p:cNvPr id="24" name="Rectángulo redondeado 23">
              <a:extLst>
                <a:ext uri="{FF2B5EF4-FFF2-40B4-BE49-F238E27FC236}">
                  <a16:creationId xmlns:a16="http://schemas.microsoft.com/office/drawing/2014/main" id="{C0FDA565-7231-A04B-604B-CBBA360FA2A9}"/>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lvl="0" algn="just">
                <a:lnSpc>
                  <a:spcPct val="80000"/>
                </a:lnSpc>
                <a:buSzPts val="1000"/>
                <a:tabLst>
                  <a:tab pos="457200" algn="l"/>
                </a:tabLst>
              </a:pPr>
              <a:r>
                <a:rPr lang="es-PA" i="1" dirty="0">
                  <a:solidFill>
                    <a:schemeClr val="tx1"/>
                  </a:solidFill>
                </a:rPr>
                <a:t>La metodología aplicada permitió identificar genes con expresión diferencial significativa entre el grupo obeso 1 y el grupo obeso 2. El grupo obeso 2 presenta un perfil molecular caracterizado por la sobreactivación significativa de una red de genes (MC4R, SIM1, FTO) de susceptibilidad a la obesidad, los cuales controlan procesos clave como el apetito, el gasto energético y la adipogénesis, es decir actuan de forma coordinada. El grupo obeso 2 podría representar un subtipo de obesidad con una base genética de expresión más pronunciada lo que tiene implicaciones potenciales para la clasificación, el pronóstico o el tratamiento dirigido. </a:t>
              </a:r>
            </a:p>
            <a:p>
              <a:pPr lvl="0" algn="just">
                <a:lnSpc>
                  <a:spcPct val="80000"/>
                </a:lnSpc>
                <a:buSzPts val="1000"/>
                <a:tabLst>
                  <a:tab pos="457200" algn="l"/>
                </a:tabLst>
              </a:pPr>
              <a:endParaRPr lang="es-PA" i="1" dirty="0">
                <a:solidFill>
                  <a:schemeClr val="tx1"/>
                </a:solidFill>
              </a:endParaRPr>
            </a:p>
            <a:p>
              <a:pPr algn="just">
                <a:lnSpc>
                  <a:spcPct val="80000"/>
                </a:lnSpc>
              </a:pPr>
              <a:r>
                <a:rPr lang="es-ES_tradnl" i="1" dirty="0">
                  <a:solidFill>
                    <a:schemeClr val="tx1"/>
                  </a:solidFill>
                </a:rPr>
                <a:t> </a:t>
              </a:r>
              <a:endParaRPr lang="es-ES_tradnl" sz="2400" i="1" dirty="0">
                <a:solidFill>
                  <a:schemeClr val="tx1"/>
                </a:solidFill>
              </a:endParaRPr>
            </a:p>
          </p:txBody>
        </p:sp>
        <p:sp>
          <p:nvSpPr>
            <p:cNvPr id="25" name="Rectángulo redondeado 24">
              <a:extLst>
                <a:ext uri="{FF2B5EF4-FFF2-40B4-BE49-F238E27FC236}">
                  <a16:creationId xmlns:a16="http://schemas.microsoft.com/office/drawing/2014/main" id="{0097D6A2-C865-70C9-C895-A45D8FA392DF}"/>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pic>
        <p:nvPicPr>
          <p:cNvPr id="1028" name="Picture 4">
            <a:extLst>
              <a:ext uri="{FF2B5EF4-FFF2-40B4-BE49-F238E27FC236}">
                <a16:creationId xmlns:a16="http://schemas.microsoft.com/office/drawing/2014/main" id="{70274CC9-2241-1244-4118-364EC63C3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8F6A5FD5-7463-A593-72C7-F0E4EB285025}"/>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DE58BDFA-8AF2-7019-7FBC-D37E50AE445C}"/>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AE74DE59-F695-8E93-09D0-A92C58D17992}"/>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A8921268-A726-C96C-B743-206883618C91}"/>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t"/>
          <a:lstStyle/>
          <a:p>
            <a:pPr algn="ctr">
              <a:lnSpc>
                <a:spcPct val="80000"/>
              </a:lnSpc>
            </a:pPr>
            <a:r>
              <a:rPr lang="es-ES_tradnl" sz="4000" b="1" dirty="0">
                <a:solidFill>
                  <a:schemeClr val="bg1"/>
                </a:solidFill>
              </a:rPr>
              <a:t>Análisis de la expresión diferencial de genes relacionados con la obesidad mediante RNA-</a:t>
            </a:r>
            <a:r>
              <a:rPr lang="es-ES_tradnl" sz="4000" b="1" dirty="0" err="1">
                <a:solidFill>
                  <a:schemeClr val="bg1"/>
                </a:solidFill>
              </a:rPr>
              <a:t>seq</a:t>
            </a:r>
            <a:endParaRPr lang="es-ES_tradnl" sz="4000" b="1" dirty="0">
              <a:solidFill>
                <a:schemeClr val="bg1"/>
              </a:solidFill>
            </a:endParaRPr>
          </a:p>
          <a:p>
            <a:pPr algn="ctr">
              <a:lnSpc>
                <a:spcPct val="50000"/>
              </a:lnSpc>
            </a:pPr>
            <a:endParaRPr lang="es-ES_tradnl" sz="2800" b="1" i="1" dirty="0">
              <a:solidFill>
                <a:schemeClr val="bg1"/>
              </a:solidFill>
            </a:endParaRPr>
          </a:p>
          <a:p>
            <a:pPr algn="ctr">
              <a:lnSpc>
                <a:spcPct val="80000"/>
              </a:lnSpc>
            </a:pPr>
            <a:r>
              <a:rPr lang="es-ES_tradnl" sz="2800" b="1" i="1" dirty="0">
                <a:solidFill>
                  <a:schemeClr val="bg1"/>
                </a:solidFill>
              </a:rPr>
              <a:t>Secuenciación y </a:t>
            </a:r>
            <a:r>
              <a:rPr lang="es-ES_tradnl" sz="2800" b="1" i="1" dirty="0" err="1">
                <a:solidFill>
                  <a:schemeClr val="bg1"/>
                </a:solidFill>
              </a:rPr>
              <a:t>Ómicas</a:t>
            </a:r>
            <a:r>
              <a:rPr lang="es-ES_tradnl" sz="2800" b="1" i="1" dirty="0">
                <a:solidFill>
                  <a:schemeClr val="bg1"/>
                </a:solidFill>
              </a:rPr>
              <a:t> de próxima generación</a:t>
            </a:r>
            <a:endParaRPr lang="es-ES_tradnl" sz="3600" b="1" i="1" dirty="0">
              <a:solidFill>
                <a:schemeClr val="bg1"/>
              </a:solidFill>
            </a:endParaRPr>
          </a:p>
          <a:p>
            <a:pPr algn="ctr">
              <a:lnSpc>
                <a:spcPct val="80000"/>
              </a:lnSpc>
            </a:pPr>
            <a:r>
              <a:rPr lang="es-ES_tradnl" sz="2000" b="1" i="1" dirty="0">
                <a:solidFill>
                  <a:schemeClr val="bg1"/>
                </a:solidFill>
              </a:rPr>
              <a:t>Batista  C., Oriana  Irina</a:t>
            </a:r>
          </a:p>
        </p:txBody>
      </p:sp>
      <p:sp>
        <p:nvSpPr>
          <p:cNvPr id="19" name="CuadroTexto 18">
            <a:extLst>
              <a:ext uri="{FF2B5EF4-FFF2-40B4-BE49-F238E27FC236}">
                <a16:creationId xmlns:a16="http://schemas.microsoft.com/office/drawing/2014/main" id="{16E043BC-62DC-A50A-F677-84121C77150E}"/>
              </a:ext>
            </a:extLst>
          </p:cNvPr>
          <p:cNvSpPr txBox="1"/>
          <p:nvPr/>
        </p:nvSpPr>
        <p:spPr>
          <a:xfrm>
            <a:off x="3785136" y="244115"/>
            <a:ext cx="8168971" cy="769441"/>
          </a:xfrm>
          <a:prstGeom prst="rect">
            <a:avLst/>
          </a:prstGeom>
          <a:solidFill>
            <a:srgbClr val="FF0000"/>
          </a:solidFill>
        </p:spPr>
        <p:txBody>
          <a:bodyPr wrap="square" rtlCol="0">
            <a:spAutoFit/>
          </a:bodyPr>
          <a:lstStyle/>
          <a:p>
            <a:pPr algn="ctr"/>
            <a:r>
              <a:rPr lang="es-ES_tradnl" sz="4400" b="1" dirty="0">
                <a:solidFill>
                  <a:schemeClr val="bg1"/>
                </a:solidFill>
              </a:rPr>
              <a:t>PÓSTER- Actividad 2</a:t>
            </a:r>
          </a:p>
        </p:txBody>
      </p:sp>
      <p:sp>
        <p:nvSpPr>
          <p:cNvPr id="1036" name="Rectángulo redondeado 1035">
            <a:extLst>
              <a:ext uri="{FF2B5EF4-FFF2-40B4-BE49-F238E27FC236}">
                <a16:creationId xmlns:a16="http://schemas.microsoft.com/office/drawing/2014/main" id="{AFAF9801-11D6-F874-E9A8-A3E0E4590764}"/>
              </a:ext>
            </a:extLst>
          </p:cNvPr>
          <p:cNvSpPr/>
          <p:nvPr/>
        </p:nvSpPr>
        <p:spPr>
          <a:xfrm>
            <a:off x="8348065" y="7403672"/>
            <a:ext cx="62706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lang="es-ES_tradnl" dirty="0">
                <a:solidFill>
                  <a:prstClr val="black"/>
                </a:solidFill>
                <a:latin typeface="Aptos" panose="02110004020202020204"/>
              </a:rPr>
              <a:t>G</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ráfico</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de Volcán para comparar los perfiles de expresión génica entre dos grupos (obeso 1 y obeso 2).</a:t>
            </a:r>
          </a:p>
        </p:txBody>
      </p:sp>
      <p:sp>
        <p:nvSpPr>
          <p:cNvPr id="1037" name="Rectángulo redondeado 1036">
            <a:extLst>
              <a:ext uri="{FF2B5EF4-FFF2-40B4-BE49-F238E27FC236}">
                <a16:creationId xmlns:a16="http://schemas.microsoft.com/office/drawing/2014/main" id="{60842445-E351-8E63-2B2D-F06DA2DB4243}"/>
              </a:ext>
            </a:extLst>
          </p:cNvPr>
          <p:cNvSpPr/>
          <p:nvPr/>
        </p:nvSpPr>
        <p:spPr>
          <a:xfrm>
            <a:off x="343140" y="12176978"/>
            <a:ext cx="4155636" cy="74594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Gráfico MA-</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Plot</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que compara la expresión génica entre obeso 1 vs obeso 2. </a:t>
            </a:r>
          </a:p>
        </p:txBody>
      </p:sp>
      <p:pic>
        <p:nvPicPr>
          <p:cNvPr id="12" name="Imagen 11">
            <a:extLst>
              <a:ext uri="{FF2B5EF4-FFF2-40B4-BE49-F238E27FC236}">
                <a16:creationId xmlns:a16="http://schemas.microsoft.com/office/drawing/2014/main" id="{328CDCB7-6E36-227F-C759-34BF8E6E3F8B}"/>
              </a:ext>
            </a:extLst>
          </p:cNvPr>
          <p:cNvPicPr>
            <a:picLocks noChangeAspect="1"/>
          </p:cNvPicPr>
          <p:nvPr/>
        </p:nvPicPr>
        <p:blipFill>
          <a:blip r:embed="rId4"/>
          <a:stretch>
            <a:fillRect/>
          </a:stretch>
        </p:blipFill>
        <p:spPr>
          <a:xfrm>
            <a:off x="518258" y="8211648"/>
            <a:ext cx="5838092" cy="3648808"/>
          </a:xfrm>
          <a:prstGeom prst="rect">
            <a:avLst/>
          </a:prstGeom>
        </p:spPr>
      </p:pic>
      <p:pic>
        <p:nvPicPr>
          <p:cNvPr id="13" name="Imagen 12">
            <a:extLst>
              <a:ext uri="{FF2B5EF4-FFF2-40B4-BE49-F238E27FC236}">
                <a16:creationId xmlns:a16="http://schemas.microsoft.com/office/drawing/2014/main" id="{4D7E7BB8-1D15-237F-DC80-4D92DC13C450}"/>
              </a:ext>
            </a:extLst>
          </p:cNvPr>
          <p:cNvPicPr>
            <a:picLocks noChangeAspect="1"/>
          </p:cNvPicPr>
          <p:nvPr/>
        </p:nvPicPr>
        <p:blipFill>
          <a:blip r:embed="rId5"/>
          <a:stretch>
            <a:fillRect/>
          </a:stretch>
        </p:blipFill>
        <p:spPr>
          <a:xfrm>
            <a:off x="8955507" y="8176288"/>
            <a:ext cx="5161544" cy="3686817"/>
          </a:xfrm>
          <a:prstGeom prst="rect">
            <a:avLst/>
          </a:prstGeom>
        </p:spPr>
      </p:pic>
      <p:pic>
        <p:nvPicPr>
          <p:cNvPr id="20" name="Imagen 19">
            <a:extLst>
              <a:ext uri="{FF2B5EF4-FFF2-40B4-BE49-F238E27FC236}">
                <a16:creationId xmlns:a16="http://schemas.microsoft.com/office/drawing/2014/main" id="{0F8F7A3C-EB2D-DC04-CDF2-04FB8A48AEAE}"/>
              </a:ext>
            </a:extLst>
          </p:cNvPr>
          <p:cNvPicPr>
            <a:picLocks noChangeAspect="1"/>
          </p:cNvPicPr>
          <p:nvPr/>
        </p:nvPicPr>
        <p:blipFill>
          <a:blip r:embed="rId6"/>
          <a:stretch>
            <a:fillRect/>
          </a:stretch>
        </p:blipFill>
        <p:spPr>
          <a:xfrm>
            <a:off x="343140" y="13416502"/>
            <a:ext cx="4155636" cy="2968311"/>
          </a:xfrm>
          <a:prstGeom prst="rect">
            <a:avLst/>
          </a:prstGeom>
        </p:spPr>
      </p:pic>
      <p:pic>
        <p:nvPicPr>
          <p:cNvPr id="21" name="Imagen 20">
            <a:extLst>
              <a:ext uri="{FF2B5EF4-FFF2-40B4-BE49-F238E27FC236}">
                <a16:creationId xmlns:a16="http://schemas.microsoft.com/office/drawing/2014/main" id="{50BB996F-F54E-9E46-F9F3-264AA7B32DF6}"/>
              </a:ext>
            </a:extLst>
          </p:cNvPr>
          <p:cNvPicPr>
            <a:picLocks noChangeAspect="1"/>
          </p:cNvPicPr>
          <p:nvPr/>
        </p:nvPicPr>
        <p:blipFill>
          <a:blip r:embed="rId7"/>
          <a:stretch>
            <a:fillRect/>
          </a:stretch>
        </p:blipFill>
        <p:spPr>
          <a:xfrm>
            <a:off x="5011397" y="13059677"/>
            <a:ext cx="5392723" cy="3851945"/>
          </a:xfrm>
          <a:prstGeom prst="rect">
            <a:avLst/>
          </a:prstGeom>
        </p:spPr>
      </p:pic>
      <p:pic>
        <p:nvPicPr>
          <p:cNvPr id="26" name="Imagen 25">
            <a:extLst>
              <a:ext uri="{FF2B5EF4-FFF2-40B4-BE49-F238E27FC236}">
                <a16:creationId xmlns:a16="http://schemas.microsoft.com/office/drawing/2014/main" id="{CF75C47B-E45F-B75D-EAF5-979DF6CE47D0}"/>
              </a:ext>
            </a:extLst>
          </p:cNvPr>
          <p:cNvPicPr>
            <a:picLocks noChangeAspect="1"/>
          </p:cNvPicPr>
          <p:nvPr/>
        </p:nvPicPr>
        <p:blipFill rotWithShape="1">
          <a:blip r:embed="rId8"/>
          <a:srcRect l="25955" t="3647" r="17653" b="20329"/>
          <a:stretch/>
        </p:blipFill>
        <p:spPr>
          <a:xfrm>
            <a:off x="10822613" y="13059677"/>
            <a:ext cx="4000209" cy="3851946"/>
          </a:xfrm>
          <a:prstGeom prst="rect">
            <a:avLst/>
          </a:prstGeom>
        </p:spPr>
      </p:pic>
      <p:sp>
        <p:nvSpPr>
          <p:cNvPr id="27" name="Rectángulo redondeado 26">
            <a:extLst>
              <a:ext uri="{FF2B5EF4-FFF2-40B4-BE49-F238E27FC236}">
                <a16:creationId xmlns:a16="http://schemas.microsoft.com/office/drawing/2014/main" id="{1CAFA2B6-0A65-A064-8727-DBC7348161E0}"/>
              </a:ext>
            </a:extLst>
          </p:cNvPr>
          <p:cNvSpPr/>
          <p:nvPr/>
        </p:nvSpPr>
        <p:spPr>
          <a:xfrm>
            <a:off x="5011397" y="12168904"/>
            <a:ext cx="5333628" cy="74594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lang="es-ES_tradnl" dirty="0">
                <a:solidFill>
                  <a:prstClr val="black"/>
                </a:solidFill>
                <a:latin typeface="Aptos" panose="02110004020202020204"/>
              </a:rPr>
              <a:t>M</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apa de calor para la visualización de los genes más diferencialmente expresados  entre los grupos obesos 1 y 2 en cada individuo.</a:t>
            </a:r>
          </a:p>
        </p:txBody>
      </p:sp>
      <p:sp>
        <p:nvSpPr>
          <p:cNvPr id="28" name="Rectángulo redondeado 27">
            <a:extLst>
              <a:ext uri="{FF2B5EF4-FFF2-40B4-BE49-F238E27FC236}">
                <a16:creationId xmlns:a16="http://schemas.microsoft.com/office/drawing/2014/main" id="{25CEE3CB-7A19-457C-B0CF-4A36DD90AE51}"/>
              </a:ext>
            </a:extLst>
          </p:cNvPr>
          <p:cNvSpPr/>
          <p:nvPr/>
        </p:nvSpPr>
        <p:spPr>
          <a:xfrm>
            <a:off x="10822613" y="12176978"/>
            <a:ext cx="3998102" cy="74594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4.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Relaciones de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coexpresión</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entre los genes más importantes identificados en el análisis.</a:t>
            </a:r>
          </a:p>
        </p:txBody>
      </p:sp>
      <p:sp>
        <p:nvSpPr>
          <p:cNvPr id="29" name="Rectángulo redondeado 28">
            <a:extLst>
              <a:ext uri="{FF2B5EF4-FFF2-40B4-BE49-F238E27FC236}">
                <a16:creationId xmlns:a16="http://schemas.microsoft.com/office/drawing/2014/main" id="{F1BA378D-1DE4-9A57-AC9A-F7AD589FEA94}"/>
              </a:ext>
            </a:extLst>
          </p:cNvPr>
          <p:cNvSpPr/>
          <p:nvPr/>
        </p:nvSpPr>
        <p:spPr>
          <a:xfrm>
            <a:off x="500674" y="7403672"/>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spTree>
    <p:extLst>
      <p:ext uri="{BB962C8B-B14F-4D97-AF65-F5344CB8AC3E}">
        <p14:creationId xmlns:p14="http://schemas.microsoft.com/office/powerpoint/2010/main" val="220350250"/>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Props1.xml><?xml version="1.0" encoding="utf-8"?>
<ds:datastoreItem xmlns:ds="http://schemas.openxmlformats.org/officeDocument/2006/customXml" ds:itemID="{EA933766-0056-42DC-9416-E7C06BCFC0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3E95016-93A9-4903-BA02-7A05B5939C79}">
  <ds:schemaRefs>
    <ds:schemaRef ds:uri="http://schemas.microsoft.com/sharepoint/v3/contenttype/forms"/>
  </ds:schemaRefs>
</ds:datastoreItem>
</file>

<file path=customXml/itemProps3.xml><?xml version="1.0" encoding="utf-8"?>
<ds:datastoreItem xmlns:ds="http://schemas.openxmlformats.org/officeDocument/2006/customXml" ds:itemID="{D48B5577-5CCE-4E9D-BDFA-952900719EE2}">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340</TotalTime>
  <Words>594</Words>
  <Application>Microsoft Macintosh PowerPoint</Application>
  <PresentationFormat>Personalizado</PresentationFormat>
  <Paragraphs>22</Paragraphs>
  <Slides>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Aptos</vt:lpstr>
      <vt:lpstr>Aptos Display</vt:lpstr>
      <vt:lpstr>Arial</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Victor  de la O Pascual</dc:creator>
  <cp:lastModifiedBy>Oriana Batista</cp:lastModifiedBy>
  <cp:revision>21</cp:revision>
  <cp:lastPrinted>2025-12-21T08:44:06Z</cp:lastPrinted>
  <dcterms:created xsi:type="dcterms:W3CDTF">2025-04-21T10:03:24Z</dcterms:created>
  <dcterms:modified xsi:type="dcterms:W3CDTF">2025-12-21T21:35:23Z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